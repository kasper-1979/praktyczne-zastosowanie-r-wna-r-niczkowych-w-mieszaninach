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2" r:id="rId1"/>
  </p:sldMasterIdLst>
  <p:sldIdLst>
    <p:sldId id="256" r:id="rId2"/>
    <p:sldId id="260" r:id="rId3"/>
    <p:sldId id="261" r:id="rId4"/>
    <p:sldId id="266" r:id="rId5"/>
    <p:sldId id="267" r:id="rId6"/>
    <p:sldId id="268" r:id="rId7"/>
    <p:sldId id="269" r:id="rId8"/>
    <p:sldId id="271" r:id="rId9"/>
    <p:sldId id="272" r:id="rId10"/>
    <p:sldId id="273" r:id="rId11"/>
    <p:sldId id="275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2BA37E-6D6A-A226-64F8-1C85E83981DE}" v="938" dt="2025-01-16T12:59:50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52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498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664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95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88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01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51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10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1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9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62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44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05" r:id="rId6"/>
    <p:sldLayoutId id="2147483801" r:id="rId7"/>
    <p:sldLayoutId id="2147483802" r:id="rId8"/>
    <p:sldLayoutId id="2147483803" r:id="rId9"/>
    <p:sldLayoutId id="2147483804" r:id="rId10"/>
    <p:sldLayoutId id="21474838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3" descr="1440x900 wallpaper | water droplet | Peakpx">
            <a:extLst>
              <a:ext uri="{FF2B5EF4-FFF2-40B4-BE49-F238E27FC236}">
                <a16:creationId xmlns:a16="http://schemas.microsoft.com/office/drawing/2014/main" id="{6C6EEC64-5707-3BD5-8F77-84826D5734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86" r="447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l-PL" sz="5100" b="1" dirty="0">
                <a:latin typeface="Posterama"/>
                <a:ea typeface="Calibri Light"/>
                <a:cs typeface="Calibri Light"/>
              </a:rPr>
              <a:t>Praktyczne zastosowanie równań różniczkowych w mieszaninac</a:t>
            </a:r>
            <a:r>
              <a:rPr lang="pl-PL" sz="5100" b="1" dirty="0">
                <a:latin typeface="Lucida Bright"/>
                <a:ea typeface="Calibri Light"/>
                <a:cs typeface="Calibri Light"/>
              </a:rPr>
              <a:t>h</a:t>
            </a:r>
            <a:endParaRPr lang="pl-PL" sz="5100" b="1" dirty="0">
              <a:latin typeface="Lucida Bright"/>
            </a:endParaRPr>
          </a:p>
        </p:txBody>
      </p:sp>
      <p:sp>
        <p:nvSpPr>
          <p:cNvPr id="71" name="Rectangle 6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CDBCA5C-76A3-89E4-7116-652E92025B28}"/>
              </a:ext>
            </a:extLst>
          </p:cNvPr>
          <p:cNvSpPr txBox="1"/>
          <p:nvPr/>
        </p:nvSpPr>
        <p:spPr>
          <a:xfrm>
            <a:off x="4956175" y="6858000"/>
            <a:ext cx="7235825" cy="3175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 err="1"/>
              <a:t>ThePhoto</a:t>
            </a:r>
            <a:r>
              <a:rPr lang="en-US" sz="1700" dirty="0"/>
              <a:t> </a:t>
            </a:r>
            <a:r>
              <a:rPr lang="en-US" sz="1700" dirty="0" err="1"/>
              <a:t>wykonane</a:t>
            </a:r>
            <a:r>
              <a:rPr lang="en-US" sz="1700" dirty="0"/>
              <a:t> </a:t>
            </a:r>
            <a:r>
              <a:rPr lang="en-US" sz="1700" dirty="0" err="1"/>
              <a:t>przez</a:t>
            </a:r>
            <a:r>
              <a:rPr lang="en-US" sz="1700" dirty="0"/>
              <a:t> </a:t>
            </a:r>
            <a:r>
              <a:rPr lang="en-US" sz="1700" dirty="0" err="1"/>
              <a:t>PhotoAuthor</a:t>
            </a:r>
            <a:r>
              <a:rPr lang="en-US" sz="1700" dirty="0"/>
              <a:t> jest </a:t>
            </a:r>
            <a:r>
              <a:rPr lang="en-US" sz="1700" dirty="0" err="1"/>
              <a:t>objęte</a:t>
            </a:r>
            <a:r>
              <a:rPr lang="en-US" sz="1700" dirty="0"/>
              <a:t> </a:t>
            </a:r>
            <a:r>
              <a:rPr lang="en-US" sz="1700" dirty="0" err="1"/>
              <a:t>licencją</a:t>
            </a:r>
            <a:r>
              <a:rPr lang="en-US" sz="1700" dirty="0"/>
              <a:t> CCYYSA.</a:t>
            </a: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5BD67-E770-9CF9-05A6-F1684B0DA6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5" b="9915"/>
          <a:stretch/>
        </p:blipFill>
        <p:spPr>
          <a:xfrm>
            <a:off x="-14357" y="10"/>
            <a:ext cx="12206390" cy="6870959"/>
          </a:xfrm>
          <a:prstGeom prst="rect">
            <a:avLst/>
          </a:prstGeom>
        </p:spPr>
      </p:pic>
      <p:sp>
        <p:nvSpPr>
          <p:cNvPr id="25" name="Rectangle 6">
            <a:extLst>
              <a:ext uri="{FF2B5EF4-FFF2-40B4-BE49-F238E27FC236}">
                <a16:creationId xmlns:a16="http://schemas.microsoft.com/office/drawing/2014/main" id="{1CA8A97F-67F0-4D5F-A850-0C30727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578" y="1802192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6122E89-8F74-C205-23EA-2BD6B6D13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268" y="2027707"/>
            <a:ext cx="11872343" cy="442680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pl-PL" sz="2000" dirty="0">
                <a:latin typeface="Aptos"/>
                <a:ea typeface="+mn-lt"/>
                <a:cs typeface="Helvetica"/>
              </a:rPr>
              <a:t>Mieszanie w przemyśle chemicznym-  równania różniczkowe pomagają kontrolować stężenie substancji w różnych etapach procesu produkcji leków, chemikaliów czy napojów gazowanych.</a:t>
            </a:r>
            <a:endParaRPr lang="en-US" sz="2000">
              <a:latin typeface="Aptos"/>
              <a:ea typeface="+mn-lt"/>
              <a:cs typeface="Helvetica"/>
            </a:endParaRPr>
          </a:p>
          <a:p>
            <a:pPr>
              <a:buFont typeface="Arial"/>
              <a:buChar char="•"/>
            </a:pPr>
            <a:r>
              <a:rPr lang="pl-PL" sz="2000" dirty="0">
                <a:latin typeface="Aptos"/>
                <a:ea typeface="+mn-lt"/>
                <a:cs typeface="Helvetica"/>
              </a:rPr>
              <a:t>Procesy oczyszczania wody- w oczyszczaniu wody procesy mieszania są kluczowe dla rozpuszczania substancji chemicznych w wodzie. </a:t>
            </a:r>
            <a:endParaRPr lang="en-US" sz="2000">
              <a:latin typeface="Aptos"/>
              <a:ea typeface="+mn-lt"/>
              <a:cs typeface="Helvetica"/>
            </a:endParaRPr>
          </a:p>
          <a:p>
            <a:pPr>
              <a:buFont typeface="Arial"/>
              <a:buChar char="•"/>
            </a:pPr>
            <a:r>
              <a:rPr lang="pl-PL" sz="2000" dirty="0">
                <a:latin typeface="Aptos"/>
                <a:ea typeface="+mn-lt"/>
                <a:cs typeface="Helvetica"/>
              </a:rPr>
              <a:t>Przemiany gazów- w przemianach gazów, takich jak procesy oczyszczania powietrza, równania różniczkowe mogą opisywać tempo mieszania powietrza w różnych warunkach temperaturowych i wilgotnościowych.</a:t>
            </a:r>
            <a:endParaRPr lang="en-US" sz="2000">
              <a:latin typeface="Aptos"/>
              <a:ea typeface="+mn-lt"/>
              <a:cs typeface="Helvetica"/>
            </a:endParaRPr>
          </a:p>
          <a:p>
            <a:pPr>
              <a:buFont typeface="Arial"/>
              <a:buChar char="•"/>
            </a:pPr>
            <a:r>
              <a:rPr lang="pl-PL" sz="2000" dirty="0">
                <a:latin typeface="Aptos"/>
                <a:ea typeface="+mn-lt"/>
                <a:cs typeface="Helvetica"/>
              </a:rPr>
              <a:t>Przemiany biochemiczne- w procesach biologicznych, takich jak mieszanie substancji w hodowlach komórkowych czy procesy fermentacji, równania różniczkowe mogą modelować zmiany stężenia składników, takich jak substraty i produkty.</a:t>
            </a:r>
            <a:endParaRPr lang="en-US" sz="2000" dirty="0">
              <a:latin typeface="Aptos"/>
              <a:ea typeface="+mn-lt"/>
              <a:cs typeface="Helvetica"/>
            </a:endParaRPr>
          </a:p>
          <a:p>
            <a:pPr algn="ctr">
              <a:buNone/>
            </a:pPr>
            <a:endParaRPr lang="en-US" sz="2400" dirty="0">
              <a:latin typeface="Helvetica"/>
              <a:ea typeface="+mn-lt"/>
              <a:cs typeface="Helvetica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9264744-A154-557C-3B8E-FF1F05717167}"/>
              </a:ext>
            </a:extLst>
          </p:cNvPr>
          <p:cNvSpPr txBox="1"/>
          <p:nvPr/>
        </p:nvSpPr>
        <p:spPr>
          <a:xfrm>
            <a:off x="1627514" y="334779"/>
            <a:ext cx="890528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3600" dirty="0">
                <a:latin typeface="Aptos Display"/>
                <a:cs typeface="Posterama"/>
              </a:rPr>
              <a:t>Zastosowanie równań różniczkowych w mieszaniu</a:t>
            </a:r>
          </a:p>
        </p:txBody>
      </p:sp>
    </p:spTree>
    <p:extLst>
      <p:ext uri="{BB962C8B-B14F-4D97-AF65-F5344CB8AC3E}">
        <p14:creationId xmlns:p14="http://schemas.microsoft.com/office/powerpoint/2010/main" val="832311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5BD67-E770-9CF9-05A6-F1684B0DA6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5" b="9915"/>
          <a:stretch/>
        </p:blipFill>
        <p:spPr>
          <a:xfrm>
            <a:off x="-14357" y="10"/>
            <a:ext cx="12206390" cy="6870959"/>
          </a:xfrm>
          <a:prstGeom prst="rect">
            <a:avLst/>
          </a:prstGeom>
        </p:spPr>
      </p:pic>
      <p:sp>
        <p:nvSpPr>
          <p:cNvPr id="25" name="Rectangle 6">
            <a:extLst>
              <a:ext uri="{FF2B5EF4-FFF2-40B4-BE49-F238E27FC236}">
                <a16:creationId xmlns:a16="http://schemas.microsoft.com/office/drawing/2014/main" id="{1CA8A97F-67F0-4D5F-A850-0C30727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578" y="1802192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6122E89-8F74-C205-23EA-2BD6B6D13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268" y="2053742"/>
            <a:ext cx="11872343" cy="337356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buNone/>
            </a:pPr>
            <a:r>
              <a:rPr lang="pl-PL" sz="2400" dirty="0">
                <a:latin typeface="Aptos"/>
                <a:ea typeface="+mn-lt"/>
                <a:cs typeface="Helvetica"/>
              </a:rPr>
              <a:t>Zbiornik o pojemności 1500 galonów początkowo zawiera 600 galonów wody z rozpuszczoną w niej solą o masie 5 </a:t>
            </a:r>
            <a:r>
              <a:rPr lang="pl-PL" sz="2400" err="1">
                <a:latin typeface="Aptos"/>
                <a:ea typeface="+mn-lt"/>
                <a:cs typeface="Helvetica"/>
              </a:rPr>
              <a:t>lbs</a:t>
            </a:r>
            <a:r>
              <a:rPr lang="pl-PL" sz="2400" dirty="0">
                <a:latin typeface="Aptos"/>
                <a:ea typeface="+mn-lt"/>
                <a:cs typeface="Helvetica"/>
              </a:rPr>
              <a:t>. Woda wpływa do zbiornika z szybkością 9 galonów/godz., a stężenie soli w wodzie wpływającej do zbiornika wynosi 1/5(1+cos(T)) </a:t>
            </a:r>
            <a:r>
              <a:rPr lang="pl-PL" sz="2400" err="1">
                <a:latin typeface="Aptos"/>
                <a:ea typeface="+mn-lt"/>
                <a:cs typeface="Helvetica"/>
              </a:rPr>
              <a:t>lbs</a:t>
            </a:r>
            <a:r>
              <a:rPr lang="pl-PL" sz="2400" dirty="0">
                <a:latin typeface="Aptos"/>
                <a:ea typeface="+mn-lt"/>
                <a:cs typeface="Helvetica"/>
              </a:rPr>
              <a:t>/gal. Jeśli dobrze wymieszany roztwór opuszcza zbiornik w tempie 6 galonów/godz., ile soli znajduje się w zbiorniku, gdy się przelewa?</a:t>
            </a:r>
            <a:endParaRPr lang="pl-PL" sz="2400" dirty="0">
              <a:latin typeface="Aptos"/>
            </a:endParaRPr>
          </a:p>
          <a:p>
            <a:pPr>
              <a:buNone/>
            </a:pPr>
            <a:endParaRPr lang="en-US" sz="1200" dirty="0">
              <a:latin typeface="Aptos"/>
              <a:ea typeface="+mn-lt"/>
              <a:cs typeface="Helvetica"/>
            </a:endParaRPr>
          </a:p>
          <a:p>
            <a:pPr algn="ctr">
              <a:buNone/>
            </a:pPr>
            <a:endParaRPr lang="en-US" sz="2400" dirty="0">
              <a:solidFill>
                <a:srgbClr val="FFFFFF"/>
              </a:solidFill>
              <a:latin typeface="Helvetica"/>
              <a:ea typeface="+mn-lt"/>
              <a:cs typeface="Helvetica"/>
            </a:endParaRPr>
          </a:p>
          <a:p>
            <a:pPr>
              <a:buNone/>
            </a:pPr>
            <a:endParaRPr lang="pl-PL" dirty="0">
              <a:solidFill>
                <a:srgbClr val="FFFFFF"/>
              </a:solidFill>
              <a:latin typeface="Helvetica"/>
              <a:ea typeface="+mn-lt"/>
              <a:cs typeface="Helvetica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9264744-A154-557C-3B8E-FF1F05717167}"/>
              </a:ext>
            </a:extLst>
          </p:cNvPr>
          <p:cNvSpPr txBox="1"/>
          <p:nvPr/>
        </p:nvSpPr>
        <p:spPr>
          <a:xfrm>
            <a:off x="1627514" y="334779"/>
            <a:ext cx="890528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5400" b="1" dirty="0">
                <a:latin typeface="Posterama"/>
                <a:cs typeface="Posterama"/>
              </a:rPr>
              <a:t>Przykład nr 1</a:t>
            </a:r>
            <a:endParaRPr lang="pl-PL" sz="4400" b="1">
              <a:latin typeface="Posterama"/>
              <a:cs typeface="Posterama"/>
            </a:endParaRPr>
          </a:p>
        </p:txBody>
      </p:sp>
    </p:spTree>
    <p:extLst>
      <p:ext uri="{BB962C8B-B14F-4D97-AF65-F5344CB8AC3E}">
        <p14:creationId xmlns:p14="http://schemas.microsoft.com/office/powerpoint/2010/main" val="1859423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5BD67-E770-9CF9-05A6-F1684B0DA6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5" b="9915"/>
          <a:stretch/>
        </p:blipFill>
        <p:spPr>
          <a:xfrm>
            <a:off x="-14357" y="10"/>
            <a:ext cx="12206390" cy="6870959"/>
          </a:xfrm>
          <a:prstGeom prst="rect">
            <a:avLst/>
          </a:prstGeom>
        </p:spPr>
      </p:pic>
      <p:sp>
        <p:nvSpPr>
          <p:cNvPr id="25" name="Rectangle 6">
            <a:extLst>
              <a:ext uri="{FF2B5EF4-FFF2-40B4-BE49-F238E27FC236}">
                <a16:creationId xmlns:a16="http://schemas.microsoft.com/office/drawing/2014/main" id="{1CA8A97F-67F0-4D5F-A850-0C30727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578" y="1802192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6122E89-8F74-C205-23EA-2BD6B6D13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268" y="2053742"/>
            <a:ext cx="11864771" cy="43627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800" dirty="0">
                <a:latin typeface="Helvetica"/>
                <a:ea typeface="+mn-lt"/>
                <a:cs typeface="Helvetica"/>
              </a:rPr>
              <a:t>Założymy, że w chwili, gdy woda dostanie się do zbiornika natychmiast rozproszy się równomiernie w całym zbiorniku. Najpierw musimy określić stężenie soli w wodzie wypływającej ze zbiornika. Korzystamy ze wzoru:</a:t>
            </a:r>
            <a:endParaRPr lang="en-US" sz="1800" dirty="0">
              <a:latin typeface="Helvetica"/>
              <a:ea typeface="+mn-lt"/>
              <a:cs typeface="Helvetica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pl-PL" dirty="0">
              <a:latin typeface="Helvetica"/>
              <a:ea typeface="+mn-lt"/>
              <a:cs typeface="Helvetica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600" dirty="0">
                <a:latin typeface="Helvetica"/>
                <a:ea typeface="+mn-lt"/>
                <a:cs typeface="Helvetica"/>
              </a:rPr>
              <a:t>St</a:t>
            </a:r>
            <a:r>
              <a:rPr lang="pl-PL" sz="1600" i="1" dirty="0">
                <a:latin typeface="Helvetica"/>
                <a:ea typeface="+mn-lt"/>
                <a:cs typeface="Helvetica"/>
              </a:rPr>
              <a:t>ęż</a:t>
            </a:r>
            <a:r>
              <a:rPr lang="pl-PL" sz="1600" dirty="0">
                <a:latin typeface="Helvetica"/>
                <a:ea typeface="+mn-lt"/>
                <a:cs typeface="Helvetica"/>
              </a:rPr>
              <a:t>enie=Ilo</a:t>
            </a:r>
            <a:r>
              <a:rPr lang="pl-PL" sz="1600" i="1" dirty="0">
                <a:latin typeface="Helvetica"/>
                <a:ea typeface="+mn-lt"/>
                <a:cs typeface="Helvetica"/>
              </a:rPr>
              <a:t>ść</a:t>
            </a:r>
            <a:r>
              <a:rPr lang="pl-PL" sz="1600" dirty="0">
                <a:latin typeface="Helvetica"/>
                <a:ea typeface="+mn-lt"/>
                <a:cs typeface="Helvetica"/>
              </a:rPr>
              <a:t> soli w zbiorniku w dowolnym momencie T / Obj</a:t>
            </a:r>
            <a:r>
              <a:rPr lang="pl-PL" sz="1600" i="1" dirty="0">
                <a:latin typeface="Helvetica"/>
                <a:ea typeface="+mn-lt"/>
                <a:cs typeface="Helvetica"/>
              </a:rPr>
              <a:t>ę</a:t>
            </a:r>
            <a:r>
              <a:rPr lang="pl-PL" sz="1600" dirty="0">
                <a:latin typeface="Helvetica"/>
                <a:ea typeface="+mn-lt"/>
                <a:cs typeface="Helvetica"/>
              </a:rPr>
              <a:t>to</a:t>
            </a:r>
            <a:r>
              <a:rPr lang="pl-PL" sz="1600" i="1" dirty="0">
                <a:latin typeface="Helvetica"/>
                <a:ea typeface="+mn-lt"/>
                <a:cs typeface="Helvetica"/>
              </a:rPr>
              <a:t>ść</a:t>
            </a:r>
            <a:r>
              <a:rPr lang="pl-PL" sz="1600" dirty="0">
                <a:latin typeface="Helvetica"/>
                <a:ea typeface="+mn-lt"/>
                <a:cs typeface="Helvetica"/>
              </a:rPr>
              <a:t> wody w zbiorniku w dowolnym momencie T</a:t>
            </a:r>
            <a:endParaRPr lang="en-US" sz="1600" dirty="0">
              <a:latin typeface="Helvetica"/>
              <a:ea typeface="+mn-lt"/>
              <a:cs typeface="Helvetica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pl-PL" sz="1600" dirty="0">
              <a:latin typeface="Helvetica"/>
              <a:ea typeface="+mn-lt"/>
              <a:cs typeface="Helvetica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600" dirty="0">
                <a:latin typeface="Helvetica"/>
                <a:ea typeface="+mn-lt"/>
                <a:cs typeface="Helvetica"/>
              </a:rPr>
              <a:t> </a:t>
            </a:r>
            <a:r>
              <a:rPr lang="pl-PL" sz="1800" dirty="0">
                <a:latin typeface="Helvetica"/>
                <a:ea typeface="+mn-lt"/>
                <a:cs typeface="Helvetica"/>
              </a:rPr>
              <a:t>Ilość soli w dowolnym momencie T to Q(T).  Zaczynamy od 600 galonów i co godzinę wchodzi 9 galonów i wychodzi 6 galonów. Więc jeśli użyjemy T w godzinach, to co godzinę do zbiornika trafia 3 galony lub w dowolnym momencie T jest (600 + 3 T) galonów wody w zbiorniku.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br>
              <a:rPr lang="pl-PL" sz="1200" dirty="0">
                <a:latin typeface="Aptos"/>
                <a:ea typeface="+mn-lt"/>
                <a:cs typeface="Helvetica"/>
              </a:rPr>
            </a:br>
            <a:endParaRPr lang="pl-PL" sz="1800">
              <a:latin typeface="Aptos"/>
              <a:ea typeface="+mn-lt"/>
              <a:cs typeface="Helvetica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2400" dirty="0">
                <a:latin typeface="Segoe UI"/>
                <a:ea typeface="+mn-lt"/>
                <a:cs typeface="Segoe UI"/>
              </a:rPr>
              <a:t>Q'(t)=9⋅(1/5(1+cos(T)))−6⋅(Q(T)/(600+3⋅T))</a:t>
            </a:r>
            <a:endParaRPr lang="pl-PL" sz="2400" dirty="0">
              <a:latin typeface="Segoe UI"/>
              <a:cs typeface="Segoe UI"/>
            </a:endParaRPr>
          </a:p>
          <a:p>
            <a:pPr>
              <a:buNone/>
            </a:pPr>
            <a:endParaRPr lang="en-US" sz="1200" dirty="0">
              <a:latin typeface="Aptos"/>
              <a:ea typeface="+mn-lt"/>
              <a:cs typeface="Helvetica"/>
            </a:endParaRPr>
          </a:p>
          <a:p>
            <a:pPr algn="ctr">
              <a:buNone/>
            </a:pPr>
            <a:endParaRPr lang="en-US" sz="2400" dirty="0">
              <a:solidFill>
                <a:srgbClr val="FFFFFF"/>
              </a:solidFill>
              <a:latin typeface="Helvetica"/>
              <a:ea typeface="+mn-lt"/>
              <a:cs typeface="Helvetica"/>
            </a:endParaRPr>
          </a:p>
          <a:p>
            <a:pPr>
              <a:buNone/>
            </a:pPr>
            <a:endParaRPr lang="pl-PL" dirty="0">
              <a:solidFill>
                <a:srgbClr val="FFFFFF"/>
              </a:solidFill>
              <a:latin typeface="Helvetica"/>
              <a:ea typeface="+mn-lt"/>
              <a:cs typeface="Helvetica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9264744-A154-557C-3B8E-FF1F05717167}"/>
              </a:ext>
            </a:extLst>
          </p:cNvPr>
          <p:cNvSpPr txBox="1"/>
          <p:nvPr/>
        </p:nvSpPr>
        <p:spPr>
          <a:xfrm>
            <a:off x="1627514" y="334779"/>
            <a:ext cx="890528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5400" b="1" dirty="0">
                <a:latin typeface="Posterama"/>
                <a:cs typeface="Posterama"/>
              </a:rPr>
              <a:t>Rozwiązanie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680671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95BD67-E770-9CF9-05A6-F1684B0DA6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5" b="9915"/>
          <a:stretch/>
        </p:blipFill>
        <p:spPr>
          <a:xfrm>
            <a:off x="-14357" y="10"/>
            <a:ext cx="12206390" cy="6870959"/>
          </a:xfrm>
          <a:prstGeom prst="rect">
            <a:avLst/>
          </a:prstGeom>
        </p:spPr>
      </p:pic>
      <p:pic>
        <p:nvPicPr>
          <p:cNvPr id="2" name="Obraz 1" descr="Obraz zawierający tekst, zrzut ekranu, Równolegle, numer&#10;&#10;Opis wygenerowany automatycznie">
            <a:extLst>
              <a:ext uri="{FF2B5EF4-FFF2-40B4-BE49-F238E27FC236}">
                <a16:creationId xmlns:a16="http://schemas.microsoft.com/office/drawing/2014/main" id="{EFFA5722-C80F-CB64-3643-6B9FB7647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276" y="101364"/>
            <a:ext cx="5202804" cy="6659065"/>
          </a:xfrm>
          <a:prstGeom prst="rect">
            <a:avLst/>
          </a:prstGeom>
        </p:spPr>
      </p:pic>
      <p:sp>
        <p:nvSpPr>
          <p:cNvPr id="3" name="Tytuł 2">
            <a:extLst>
              <a:ext uri="{FF2B5EF4-FFF2-40B4-BE49-F238E27FC236}">
                <a16:creationId xmlns:a16="http://schemas.microsoft.com/office/drawing/2014/main" id="{856D959A-9E88-BC18-12DA-C1B7F30D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35641"/>
            <a:ext cx="3932237" cy="5311588"/>
          </a:xfrm>
        </p:spPr>
        <p:txBody>
          <a:bodyPr/>
          <a:lstStyle/>
          <a:p>
            <a:pPr algn="ctr"/>
            <a:r>
              <a:rPr lang="pl-PL" sz="3600" b="1" dirty="0">
                <a:latin typeface="Aptos"/>
              </a:rPr>
              <a:t>Implementacja kodu programu rozwiązującego zadanie, w języku </a:t>
            </a:r>
            <a:r>
              <a:rPr lang="pl-PL" sz="3600" b="1" dirty="0" err="1">
                <a:latin typeface="Aptos"/>
              </a:rPr>
              <a:t>wmx.Maxima</a:t>
            </a:r>
            <a:r>
              <a:rPr lang="pl-PL" sz="3600" b="1" dirty="0">
                <a:latin typeface="Aptos"/>
              </a:rPr>
              <a:t>:</a:t>
            </a:r>
            <a:endParaRPr lang="pl-PL" sz="3600" dirty="0">
              <a:solidFill>
                <a:srgbClr val="000000"/>
              </a:solidFill>
              <a:latin typeface="Aptos"/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67863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95BD67-E770-9CF9-05A6-F1684B0DA6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5" b="9915"/>
          <a:stretch/>
        </p:blipFill>
        <p:spPr>
          <a:xfrm>
            <a:off x="-2634" y="35179"/>
            <a:ext cx="12206390" cy="6870959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A9264744-A154-557C-3B8E-FF1F05717167}"/>
              </a:ext>
            </a:extLst>
          </p:cNvPr>
          <p:cNvSpPr txBox="1"/>
          <p:nvPr/>
        </p:nvSpPr>
        <p:spPr>
          <a:xfrm>
            <a:off x="92826" y="2000662"/>
            <a:ext cx="6006922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6000" b="1" dirty="0">
                <a:latin typeface="Aptos"/>
                <a:cs typeface="Posterama"/>
              </a:rPr>
              <a:t>Animacja w programie Maxima </a:t>
            </a:r>
          </a:p>
        </p:txBody>
      </p:sp>
      <p:pic>
        <p:nvPicPr>
          <p:cNvPr id="2" name="Symbol zastępczy zawartości 1" descr="Obraz zawierający tekst, zrzut ekranu, linia, Wykres&#10;&#10;Opis wygenerowany automatycznie">
            <a:extLst>
              <a:ext uri="{FF2B5EF4-FFF2-40B4-BE49-F238E27FC236}">
                <a16:creationId xmlns:a16="http://schemas.microsoft.com/office/drawing/2014/main" id="{F9E53EC6-863A-25BE-4F0B-1CAE4E981F7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6096345" y="744265"/>
            <a:ext cx="5476859" cy="5449871"/>
          </a:xfrm>
        </p:spPr>
      </p:pic>
    </p:spTree>
    <p:extLst>
      <p:ext uri="{BB962C8B-B14F-4D97-AF65-F5344CB8AC3E}">
        <p14:creationId xmlns:p14="http://schemas.microsoft.com/office/powerpoint/2010/main" val="3041557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5BD67-E770-9CF9-05A6-F1684B0DA6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5" b="9915"/>
          <a:stretch/>
        </p:blipFill>
        <p:spPr>
          <a:xfrm>
            <a:off x="-14357" y="10"/>
            <a:ext cx="12206390" cy="6870959"/>
          </a:xfrm>
          <a:prstGeom prst="rect">
            <a:avLst/>
          </a:prstGeom>
        </p:spPr>
      </p:pic>
      <p:sp>
        <p:nvSpPr>
          <p:cNvPr id="25" name="Rectangle 6">
            <a:extLst>
              <a:ext uri="{FF2B5EF4-FFF2-40B4-BE49-F238E27FC236}">
                <a16:creationId xmlns:a16="http://schemas.microsoft.com/office/drawing/2014/main" id="{1CA8A97F-67F0-4D5F-A850-0C30727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578" y="1802192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9264744-A154-557C-3B8E-FF1F05717167}"/>
              </a:ext>
            </a:extLst>
          </p:cNvPr>
          <p:cNvSpPr txBox="1"/>
          <p:nvPr/>
        </p:nvSpPr>
        <p:spPr>
          <a:xfrm>
            <a:off x="506926" y="334779"/>
            <a:ext cx="1128092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8000" b="1" dirty="0">
                <a:latin typeface="Aptos"/>
                <a:cs typeface="Posterama"/>
              </a:rPr>
              <a:t>Przykład nr 2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CA00716-4859-66C7-698B-69AD27806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pl-PL" sz="2400" dirty="0">
                <a:latin typeface="Aptos"/>
              </a:rPr>
              <a:t>Zbiornik retencyjny o pojemności 1000 galonów, który wychwytuje ścieki z pewnego procesu chemicznego, początkowo ma 800 galonów wody z rozpuszczonymi w niej 2 uncjami zanieczyszczeń. Zanieczyszczona woda wpływa do zbiornika z szybkością 3 galonów/godz. i zawiera 5 uncji/galon zanieczyszczeń. Dobrze wymieszany roztwór opuszcza zbiornik z szybkością 3 galonów/godz. Gdy ilość zanieczyszczeń w zbiorniku osiągnie 500 uncji, dopływ zanieczyszczonej wody zostaje odcięty, a świeża woda będzie wpływać do zbiornika ze zmniejszoną szybkością 2 galonów/godz., podczas gdy odpływ wzrasta do 4 galonów/godz. Określ ilość zanieczyszczeń w zbiorniku w dowolnym momencie T.</a:t>
            </a:r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23937946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5BD67-E770-9CF9-05A6-F1684B0DA6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5" b="9915"/>
          <a:stretch/>
        </p:blipFill>
        <p:spPr>
          <a:xfrm>
            <a:off x="-14357" y="10"/>
            <a:ext cx="12206390" cy="6870959"/>
          </a:xfrm>
          <a:prstGeom prst="rect">
            <a:avLst/>
          </a:prstGeom>
        </p:spPr>
      </p:pic>
      <p:sp>
        <p:nvSpPr>
          <p:cNvPr id="25" name="Rectangle 6">
            <a:extLst>
              <a:ext uri="{FF2B5EF4-FFF2-40B4-BE49-F238E27FC236}">
                <a16:creationId xmlns:a16="http://schemas.microsoft.com/office/drawing/2014/main" id="{1CA8A97F-67F0-4D5F-A850-0C30727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578" y="1802192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9264744-A154-557C-3B8E-FF1F05717167}"/>
              </a:ext>
            </a:extLst>
          </p:cNvPr>
          <p:cNvSpPr txBox="1"/>
          <p:nvPr/>
        </p:nvSpPr>
        <p:spPr>
          <a:xfrm>
            <a:off x="506926" y="334779"/>
            <a:ext cx="1128092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8000" b="1" dirty="0">
                <a:latin typeface="Aptos"/>
                <a:cs typeface="Posterama"/>
              </a:rPr>
              <a:t>Rozwiązanie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CA00716-4859-66C7-698B-69AD27806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pl-PL" sz="2000" dirty="0">
                <a:latin typeface="Aptos"/>
              </a:rPr>
              <a:t>Zanieczyszczenie w zbiorniku będzie rosło wraz z upływem czasu. Jeśli ilość zanieczyszczeń kiedykolwiek osiągnie maksymalny dozwolony poziom, sytuacja ulegnie zmianie. To również będzie wymagało zmiany równania różniczkowego opisującego proces. Pierwszy wzór opisuje </a:t>
            </a:r>
            <a:r>
              <a:rPr lang="pl-PL" sz="2000">
                <a:latin typeface="Aptos"/>
              </a:rPr>
              <a:t>sytuację początkową, gdy zanieczyszczony odpływ dostanie się do zbiornika. Natomiast drugie równanie opisuje sytuację po osiągnięciu maksymalnego dozwolonego poziomu </a:t>
            </a:r>
            <a:r>
              <a:rPr lang="pl-PL" sz="2000" dirty="0">
                <a:latin typeface="Aptos"/>
              </a:rPr>
              <a:t>zanieczyszczeń, gdy do zbiornika dostanie się świeża woda.</a:t>
            </a:r>
            <a:endParaRPr lang="pl-PL" dirty="0"/>
          </a:p>
          <a:p>
            <a:pPr marL="0" indent="0" algn="ctr">
              <a:buNone/>
            </a:pPr>
            <a:endParaRPr lang="pl-PL" sz="2000" dirty="0">
              <a:latin typeface="Aptos"/>
            </a:endParaRPr>
          </a:p>
          <a:p>
            <a:pPr marL="0" indent="0" algn="ctr">
              <a:buNone/>
            </a:pPr>
            <a:r>
              <a:rPr lang="pl-PL" sz="2400" dirty="0">
                <a:latin typeface="Aptos"/>
              </a:rPr>
              <a:t>Q′1(T)=15−3⋅(Q1(T)/800)</a:t>
            </a:r>
            <a:endParaRPr lang="pl-PL" sz="2400" dirty="0">
              <a:latin typeface="The Hand Bold"/>
            </a:endParaRPr>
          </a:p>
          <a:p>
            <a:pPr marL="0" indent="0" algn="ctr">
              <a:buNone/>
            </a:pPr>
            <a:r>
              <a:rPr lang="pl-PL" sz="2400" dirty="0">
                <a:latin typeface="Aptos"/>
              </a:rPr>
              <a:t>Q′2(T)=(−4)⋅(Q2(T)/(800−2⋅(T−TM)))</a:t>
            </a:r>
            <a:endParaRPr lang="pl-PL" sz="2400" dirty="0"/>
          </a:p>
          <a:p>
            <a:pPr marL="0" indent="0" algn="ctr">
              <a:buNone/>
            </a:pPr>
            <a:endParaRPr lang="pl-PL" sz="1800" dirty="0">
              <a:latin typeface="Aptos"/>
            </a:endParaRPr>
          </a:p>
          <a:p>
            <a:pPr marL="0" indent="0" algn="ctr">
              <a:buNone/>
            </a:pPr>
            <a:endParaRPr lang="pl-PL" sz="1800" dirty="0">
              <a:latin typeface="Aptos"/>
            </a:endParaRPr>
          </a:p>
          <a:p>
            <a:pPr marL="0" indent="0" algn="ctr">
              <a:buNone/>
            </a:pPr>
            <a:endParaRPr lang="pl-PL" sz="18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244053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95BD67-E770-9CF9-05A6-F1684B0DA6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5" b="9915"/>
          <a:stretch/>
        </p:blipFill>
        <p:spPr>
          <a:xfrm>
            <a:off x="3981" y="-13230"/>
            <a:ext cx="12206390" cy="6870959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A9264744-A154-557C-3B8E-FF1F05717167}"/>
              </a:ext>
            </a:extLst>
          </p:cNvPr>
          <p:cNvSpPr txBox="1"/>
          <p:nvPr/>
        </p:nvSpPr>
        <p:spPr>
          <a:xfrm>
            <a:off x="448311" y="123764"/>
            <a:ext cx="112809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3600" b="1" dirty="0">
                <a:latin typeface="Aptos"/>
                <a:cs typeface="Posterama"/>
              </a:rPr>
              <a:t>Implementacja kodu, w języku </a:t>
            </a:r>
            <a:r>
              <a:rPr lang="pl-PL" sz="3600" b="1" dirty="0" err="1">
                <a:latin typeface="Aptos"/>
                <a:cs typeface="Posterama"/>
              </a:rPr>
              <a:t>Python</a:t>
            </a:r>
            <a:r>
              <a:rPr lang="pl-PL" sz="3600" b="1" dirty="0">
                <a:latin typeface="Aptos"/>
                <a:cs typeface="Posterama"/>
              </a:rPr>
              <a:t> :</a:t>
            </a:r>
          </a:p>
        </p:txBody>
      </p:sp>
      <p:pic>
        <p:nvPicPr>
          <p:cNvPr id="2" name="Obraz 1" descr="Obraz zawierający tekst, zrzut ekranu&#10;&#10;Opis wygenerowany automatycznie">
            <a:extLst>
              <a:ext uri="{FF2B5EF4-FFF2-40B4-BE49-F238E27FC236}">
                <a16:creationId xmlns:a16="http://schemas.microsoft.com/office/drawing/2014/main" id="{DD0264A4-C89C-8AF2-DBCE-F51E2F0F8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85" y="1865801"/>
            <a:ext cx="5216768" cy="4714186"/>
          </a:xfrm>
          <a:prstGeom prst="rect">
            <a:avLst/>
          </a:prstGeom>
        </p:spPr>
      </p:pic>
      <p:pic>
        <p:nvPicPr>
          <p:cNvPr id="3" name="Obraz 2" descr="Obraz zawierający tekst, zrzut ekranu, oprogramowanie&#10;&#10;Opis wygenerowany automatycznie">
            <a:extLst>
              <a:ext uri="{FF2B5EF4-FFF2-40B4-BE49-F238E27FC236}">
                <a16:creationId xmlns:a16="http://schemas.microsoft.com/office/drawing/2014/main" id="{F293B456-93E7-232D-8B73-58D564AC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5905" y="2857931"/>
            <a:ext cx="4911968" cy="3708804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BAE67DA3-0CA4-7355-FCC1-B255F32670AA}"/>
              </a:ext>
            </a:extLst>
          </p:cNvPr>
          <p:cNvSpPr txBox="1"/>
          <p:nvPr/>
        </p:nvSpPr>
        <p:spPr>
          <a:xfrm>
            <a:off x="775665" y="1131485"/>
            <a:ext cx="45362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3200" dirty="0">
                <a:latin typeface="Helvetica"/>
                <a:cs typeface="Helvetica"/>
              </a:rPr>
              <a:t>Rozwiązanie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935E222-71E4-B412-0CD5-D1826B4B58CA}"/>
              </a:ext>
            </a:extLst>
          </p:cNvPr>
          <p:cNvSpPr txBox="1"/>
          <p:nvPr/>
        </p:nvSpPr>
        <p:spPr>
          <a:xfrm>
            <a:off x="7148801" y="2147962"/>
            <a:ext cx="285618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3200" dirty="0">
                <a:latin typeface="Helvetica"/>
                <a:cs typeface="Helvetica"/>
              </a:rPr>
              <a:t>Animacja</a:t>
            </a:r>
          </a:p>
        </p:txBody>
      </p:sp>
      <p:sp>
        <p:nvSpPr>
          <p:cNvPr id="9" name="Strzałka: zakrzywiona w prawo 8">
            <a:extLst>
              <a:ext uri="{FF2B5EF4-FFF2-40B4-BE49-F238E27FC236}">
                <a16:creationId xmlns:a16="http://schemas.microsoft.com/office/drawing/2014/main" id="{390B1A77-1FF5-709C-BBE5-7511E78D5DC8}"/>
              </a:ext>
            </a:extLst>
          </p:cNvPr>
          <p:cNvSpPr/>
          <p:nvPr/>
        </p:nvSpPr>
        <p:spPr>
          <a:xfrm>
            <a:off x="6472674" y="2324487"/>
            <a:ext cx="672043" cy="1072608"/>
          </a:xfrm>
          <a:prstGeom prst="curv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  <p:sp>
        <p:nvSpPr>
          <p:cNvPr id="10" name="Strzałka: zakrzywiona w prawo 9">
            <a:extLst>
              <a:ext uri="{FF2B5EF4-FFF2-40B4-BE49-F238E27FC236}">
                <a16:creationId xmlns:a16="http://schemas.microsoft.com/office/drawing/2014/main" id="{ECF3DC41-F50B-8BD0-D805-8ADDFD1A5A28}"/>
              </a:ext>
            </a:extLst>
          </p:cNvPr>
          <p:cNvSpPr/>
          <p:nvPr/>
        </p:nvSpPr>
        <p:spPr>
          <a:xfrm>
            <a:off x="96527" y="1248721"/>
            <a:ext cx="672043" cy="1072608"/>
          </a:xfrm>
          <a:prstGeom prst="curv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180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95BD67-E770-9CF9-05A6-F1684B0DA6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5" b="9915"/>
          <a:stretch/>
        </p:blipFill>
        <p:spPr>
          <a:xfrm>
            <a:off x="43152" y="10"/>
            <a:ext cx="12206390" cy="6870959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A9264744-A154-557C-3B8E-FF1F05717167}"/>
              </a:ext>
            </a:extLst>
          </p:cNvPr>
          <p:cNvSpPr txBox="1"/>
          <p:nvPr/>
        </p:nvSpPr>
        <p:spPr>
          <a:xfrm>
            <a:off x="506926" y="334779"/>
            <a:ext cx="1128092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4800" b="1" dirty="0">
                <a:latin typeface="Aptos"/>
                <a:cs typeface="Posterama"/>
              </a:rPr>
              <a:t>Animacja w formie wykresu :</a:t>
            </a:r>
            <a:endParaRPr lang="pl-PL" sz="4800" dirty="0">
              <a:latin typeface="Aptos"/>
              <a:cs typeface="Posterama"/>
            </a:endParaRPr>
          </a:p>
        </p:txBody>
      </p:sp>
      <p:pic>
        <p:nvPicPr>
          <p:cNvPr id="2" name="Symbol zastępczy zawartości 1" descr="Obraz zawierający tekst, linia, Wykres, diagram&#10;&#10;Opis wygenerowany automatycznie">
            <a:extLst>
              <a:ext uri="{FF2B5EF4-FFF2-40B4-BE49-F238E27FC236}">
                <a16:creationId xmlns:a16="http://schemas.microsoft.com/office/drawing/2014/main" id="{6CD375FC-AA29-0225-AE03-810C0F7F46B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2228490" y="1555062"/>
            <a:ext cx="7848120" cy="4827227"/>
          </a:xfrm>
        </p:spPr>
      </p:pic>
    </p:spTree>
    <p:extLst>
      <p:ext uri="{BB962C8B-B14F-4D97-AF65-F5344CB8AC3E}">
        <p14:creationId xmlns:p14="http://schemas.microsoft.com/office/powerpoint/2010/main" val="3388591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95BD67-E770-9CF9-05A6-F1684B0DA6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5" b="9915"/>
          <a:stretch/>
        </p:blipFill>
        <p:spPr>
          <a:xfrm>
            <a:off x="-1671" y="10"/>
            <a:ext cx="12206390" cy="6870959"/>
          </a:xfrm>
          <a:prstGeom prst="rect">
            <a:avLst/>
          </a:prstGeom>
        </p:spPr>
      </p:pic>
      <p:sp>
        <p:nvSpPr>
          <p:cNvPr id="3" name="Tytuł 2">
            <a:extLst>
              <a:ext uri="{FF2B5EF4-FFF2-40B4-BE49-F238E27FC236}">
                <a16:creationId xmlns:a16="http://schemas.microsoft.com/office/drawing/2014/main" id="{C9A1E4BE-B665-5E49-951E-CC68F2D9E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err="1">
                <a:latin typeface="Helvetica"/>
                <a:cs typeface="Helvetica"/>
              </a:rPr>
              <a:t>Dziękujemy</a:t>
            </a:r>
            <a:r>
              <a:rPr lang="en-US" sz="7200" dirty="0">
                <a:latin typeface="Helvetica"/>
                <a:cs typeface="Helvetica"/>
              </a:rPr>
              <a:t> za </a:t>
            </a:r>
            <a:r>
              <a:rPr lang="en-US" sz="7200" err="1">
                <a:latin typeface="Helvetica"/>
                <a:cs typeface="Helvetica"/>
              </a:rPr>
              <a:t>uwagę</a:t>
            </a:r>
            <a:endParaRPr lang="pl-PL" sz="6600" dirty="0" err="1">
              <a:latin typeface="Helvetica"/>
              <a:cs typeface="Helvetica"/>
            </a:endParaRPr>
          </a:p>
        </p:txBody>
      </p:sp>
      <p:sp>
        <p:nvSpPr>
          <p:cNvPr id="6" name="Podtytuł 5">
            <a:extLst>
              <a:ext uri="{FF2B5EF4-FFF2-40B4-BE49-F238E27FC236}">
                <a16:creationId xmlns:a16="http://schemas.microsoft.com/office/drawing/2014/main" id="{90A74257-9696-A9F0-0319-847A5A29CF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err="1">
                <a:latin typeface="Segoe UI"/>
                <a:cs typeface="Segoe UI"/>
              </a:rPr>
              <a:t>Prezentację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przygotowali</a:t>
            </a:r>
            <a:r>
              <a:rPr lang="en-US" sz="2400" dirty="0">
                <a:latin typeface="Segoe UI"/>
                <a:cs typeface="Segoe UI"/>
              </a:rPr>
              <a:t>:</a:t>
            </a:r>
            <a:endParaRPr lang="pl-PL" sz="2400">
              <a:latin typeface="Segoe UI"/>
              <a:cs typeface="Segoe UI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Segoe UI"/>
                <a:cs typeface="Segoe UI"/>
              </a:rPr>
              <a:t>Wiktoria </a:t>
            </a:r>
            <a:r>
              <a:rPr lang="en-US" sz="2400" err="1">
                <a:latin typeface="Segoe UI"/>
                <a:cs typeface="Segoe UI"/>
              </a:rPr>
              <a:t>Nyklewicz</a:t>
            </a:r>
            <a:r>
              <a:rPr lang="en-US" sz="2400" dirty="0">
                <a:latin typeface="Segoe UI"/>
                <a:cs typeface="Segoe UI"/>
              </a:rPr>
              <a:t> 176842,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Segoe UI"/>
                <a:cs typeface="Segoe UI"/>
              </a:rPr>
              <a:t>Kacper Lis 176828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3310490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11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2" baseType="lpstr">
      <vt:lpstr>SketchyVTI</vt:lpstr>
      <vt:lpstr>Praktyczne zastosowanie równań różniczkowych w mieszaninach</vt:lpstr>
      <vt:lpstr>Prezentacja programu PowerPoint</vt:lpstr>
      <vt:lpstr>Prezentacja programu PowerPoint</vt:lpstr>
      <vt:lpstr>Prezentacja programu PowerPoint</vt:lpstr>
      <vt:lpstr>Implementacja kodu programu rozwiązującego zadanie, w języku wmx.Maxima: 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Dziękujemy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521</cp:revision>
  <dcterms:created xsi:type="dcterms:W3CDTF">2025-01-04T16:21:00Z</dcterms:created>
  <dcterms:modified xsi:type="dcterms:W3CDTF">2025-01-16T13:00:39Z</dcterms:modified>
</cp:coreProperties>
</file>